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F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1097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4F8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MANDOS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48640" y="18288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Monitoring with Lagged Actuals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2377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Vintage-Based Monitoring  ·  Cumulative Severity Tiers  ·  Grade-Level Segmentation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926080"/>
            <a:ext cx="2286000" cy="0"/>
          </a:xfrm>
          <a:prstGeom prst="line">
            <a:avLst/>
          </a:prstGeom>
          <a:noFill/>
          <a:ln w="25400">
            <a:solidFill>
              <a:srgbClr val="4F8F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 ·  Risk Organization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Problem: 24 Months Blind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credit risk models define outcomes over long observation windows.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474720" cy="20116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45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4F8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Zuul's bad flag can be fully evaluated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4389120" cy="20116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645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Zuul Bad Flag Definition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201168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Charge-off at month 24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90+ DPD at month 24 evaluation point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F59E0B"/>
                </a:solidFill>
              </a:rPr>
              <a:t>Ever exceeded 120 DPD at any point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this gap, the model could be failing — and we wouldn't know.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Platform Tools Fall Short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508760"/>
          </a:xfrm>
          <a:prstGeom prst="rect">
            <a:avLst/>
          </a:prstGeom>
          <a:solidFill>
            <a:srgbClr val="1E2A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SageMaker Model Monitor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5156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Designed for short-lag ground truth (hours/days)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No vintage cohort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Tied to SageMaker endpoints (we use EKS)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8229600" cy="1508760"/>
          </a:xfrm>
          <a:prstGeom prst="rect">
            <a:avLst/>
          </a:prstGeom>
          <a:solidFill>
            <a:srgbClr val="1E2A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34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ML Observability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51560" y="3154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Requires Model Registry coupling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Time-windowed aggregation, not vintage × MOB × grade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</a:rPr>
              <a:t>Same ground truth assumption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4160520"/>
            <a:ext cx="8229600" cy="45720"/>
          </a:xfrm>
          <a:prstGeom prst="rect">
            <a:avLst/>
          </a:prstGeom>
          <a:solidFill>
            <a:srgbClr val="4F8FF7"/>
          </a:solidFill>
          <a:ln/>
        </p:spPr>
      </p:sp>
      <p:sp>
        <p:nvSpPr>
          <p:cNvPr id="14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platform was designed for models where ground truth arrives incrementally over months or years.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Mandos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pillars purpose-built for credit risk model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31089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45720"/>
          </a:xfrm>
          <a:prstGeom prst="rect">
            <a:avLst/>
          </a:prstGeom>
          <a:solidFill>
            <a:srgbClr val="4F8FF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002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Tiers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 30/60/90/120+ DPD monthly. Counts only go up. Every month adds real information.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31089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2" name="Shape 9"/>
          <p:cNvSpPr/>
          <p:nvPr/>
        </p:nvSpPr>
        <p:spPr>
          <a:xfrm>
            <a:off x="3291840" y="1371600"/>
            <a:ext cx="2560320" cy="45720"/>
          </a:xfrm>
          <a:prstGeom prst="rect">
            <a:avLst/>
          </a:prstGeom>
          <a:solidFill>
            <a:srgbClr val="4F8FF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002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Grade-Level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origination grade (A–D). See if the model's ranking is holding — not just portfolio averages.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560320" cy="31089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7" name="Shape 13"/>
          <p:cNvSpPr/>
          <p:nvPr/>
        </p:nvSpPr>
        <p:spPr>
          <a:xfrm>
            <a:off x="6126480" y="1371600"/>
            <a:ext cx="2560320" cy="45720"/>
          </a:xfrm>
          <a:prstGeom prst="rect">
            <a:avLst/>
          </a:prstGeom>
          <a:solidFill>
            <a:srgbClr val="4F8FF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936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Config-Driven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9360" y="29260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file per model. No custom code. Mandos generates queries, computes metrics, persists snapshots.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Cumulative Severity Tiers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fixed-window proxies. Cumulative counters that grow every month.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30+ DPD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Been 30+ days past due at any point to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60+ DPD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Been 60+ days past due at any point to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90+ DPD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Been 90+ days past due at any point to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Probable 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120+ DPD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Exceeded 120 DPD. Triggers the Zuul bad flag.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Charged off at any point to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bad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FF7"/>
                </a:solidFill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All counters are monotonically increasing. An account that has ever been 60+ DPD can never become "never 60+ DPD." Every monthly snapshot adds real information.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Floor &amp; Ceiling: Watching the Answer Converge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21031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45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Bad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triggered the bad flag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(ever 120+ DPD or charge-off).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truth. Can only increase.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21031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Shape 8"/>
          <p:cNvSpPr/>
          <p:nvPr/>
        </p:nvSpPr>
        <p:spPr>
          <a:xfrm>
            <a:off x="3291840" y="1005840"/>
            <a:ext cx="256032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88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Bad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distress (ever 90+ DPD)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hasn't crossed 120.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likely to convert.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0" y="1005840"/>
            <a:ext cx="2560320" cy="210312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6" name="Shape 12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188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Bad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16459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 mild delinquency.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will stay good.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will deteriorate.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1" name="Text 16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374904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At any monthly checkpoint, Mandos reports a </a:t>
            </a:r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floor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(confirmed bads) and a </a:t>
            </a:r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ceiling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 (confirmed + probable).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As the vintage matures, the gap narrows until it vanishes at month 24.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F8FF7"/>
                </a:solidFill>
              </a:rPr>
              <a:t>By month 12, ~60% of Grade D's final bad population is already confirmed as ground truth.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Grade-Level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ranking — not just the portfolio average — is what matters.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Loss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 converges with Grade 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can't tell risk tiers apart.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1463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28016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Shift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grades rise together.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works. Recalibrate, don't rebuild.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14630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5" name="Shape 13"/>
          <p:cNvSpPr/>
          <p:nvPr/>
        </p:nvSpPr>
        <p:spPr>
          <a:xfrm>
            <a:off x="6126480" y="1280160"/>
            <a:ext cx="54864" cy="1463040"/>
          </a:xfrm>
          <a:prstGeom prst="rect">
            <a:avLst/>
          </a:prstGeom>
          <a:solidFill>
            <a:srgbClr val="4F8FF7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71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grade diverges.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normal. Feature problem.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Ever 60+ DPD at MOB 12 — Cross-Vintage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2025-01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9.1% 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A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 drifting while A–C stable. Portfolio-level trend (2.6% → 2.9%) would not alert.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Timeline: 16 Months Early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21792" y="105156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94944" y="1234440"/>
            <a:ext cx="0" cy="365760"/>
          </a:xfrm>
          <a:prstGeom prst="line">
            <a:avLst/>
          </a:prstGeom>
          <a:noFill/>
          <a:ln w="19050">
            <a:solidFill>
              <a:srgbClr val="2A35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60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960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deployed. Baseline computed by grade.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673352"/>
            <a:ext cx="146304" cy="146304"/>
          </a:xfrm>
          <a:prstGeom prst="ellipse">
            <a:avLst/>
          </a:prstGeom>
          <a:solidFill>
            <a:srgbClr val="8B99B0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1856232"/>
            <a:ext cx="0" cy="365760"/>
          </a:xfrm>
          <a:prstGeom prst="line">
            <a:avLst/>
          </a:prstGeom>
          <a:noFill/>
          <a:ln w="19050">
            <a:solidFill>
              <a:srgbClr val="2A3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581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15819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 ever-30+ rate slightly elevated (6.2% vs 5.5%). Logged.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" y="22951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944" y="2478024"/>
            <a:ext cx="0" cy="365760"/>
          </a:xfrm>
          <a:prstGeom prst="line">
            <a:avLst/>
          </a:prstGeom>
          <a:noFill/>
          <a:ln w="19050">
            <a:solidFill>
              <a:srgbClr val="2A35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2037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08760" y="220370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 ever-60+ at 9.6% vs 7.8% baseline (+23%). Alert fires.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" y="2916936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694944" y="3099816"/>
            <a:ext cx="0" cy="365760"/>
          </a:xfrm>
          <a:prstGeom prst="line">
            <a:avLst/>
          </a:prstGeom>
          <a:noFill/>
          <a:ln w="19050">
            <a:solidFill>
              <a:srgbClr val="2A3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8254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28254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DTI rounding error affecting Grade D originations.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" y="3538728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447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44728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confirm: Grade D at 12.1% vs 9.0% baseline.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Grade-level monitoring detected the issue at month 8. Portfolio-level would not have alerted until much later.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Config-Driven Onboarding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YAML file per model. No custom code. Mandos handles the rest.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754880" cy="32004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zuul_originations.yaml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model_name: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zuul_originations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prediction_table: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RISK_DB.SCORES.ZUUL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maturation_months: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segmentation_column: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severity_tiers: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ever_30_dpd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ever_60_dpd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ever_90_dpd  </a:t>
            </a:r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(probable_bad)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ever_120_dpd </a:t>
            </a:r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(confirmed_bad)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F8F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Workflow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0" y="1783080"/>
            <a:ext cx="274320" cy="274320"/>
          </a:xfrm>
          <a:prstGeom prst="ellipse">
            <a:avLst/>
          </a:prstGeom>
          <a:solidFill>
            <a:srgbClr val="4F8F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783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7880" y="1737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YAML config file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0" y="2286000"/>
            <a:ext cx="274320" cy="274320"/>
          </a:xfrm>
          <a:prstGeom prst="ellipse">
            <a:avLst/>
          </a:prstGeom>
          <a:solidFill>
            <a:srgbClr val="4F8F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9788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mandos_config/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0" y="2788920"/>
            <a:ext cx="274320" cy="274320"/>
          </a:xfrm>
          <a:prstGeom prst="ellipse">
            <a:avLst/>
          </a:prstGeom>
          <a:solidFill>
            <a:srgbClr val="4F8F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validates tables &amp; schema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0" y="3291840"/>
            <a:ext cx="274320" cy="274320"/>
          </a:xfrm>
          <a:prstGeom prst="ellipse">
            <a:avLst/>
          </a:prstGeom>
          <a:solidFill>
            <a:srgbClr val="4F8F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9788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run: auto-discovered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0" y="3794760"/>
            <a:ext cx="274320" cy="274320"/>
          </a:xfrm>
          <a:prstGeom prst="ellipse">
            <a:avLst/>
          </a:prstGeom>
          <a:solidFill>
            <a:srgbClr val="4F8F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computed from mature vintage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&amp; Compute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560320" cy="21945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56032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aggregation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 (histograms, counts)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arrays (score + label)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storage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560320" cy="21945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005840"/>
            <a:ext cx="2560320" cy="45720"/>
          </a:xfrm>
          <a:prstGeom prst="rect">
            <a:avLst/>
          </a:prstGeom>
          <a:solidFill>
            <a:srgbClr val="4F8FF7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config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PSI/CSI (numpy)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AUC/KS (sklearn/scipy)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CBPE (NannyML)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560320" cy="219456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0" y="1005840"/>
            <a:ext cx="25603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on Snowflake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separation charts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 overlays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history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08960" y="2103120"/>
            <a:ext cx="182880" cy="0"/>
          </a:xfrm>
          <a:prstGeom prst="line">
            <a:avLst/>
          </a:prstGeom>
          <a:noFill/>
          <a:ln w="19050">
            <a:solidFill>
              <a:srgbClr val="8B99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2103120"/>
            <a:ext cx="182880" cy="0"/>
          </a:xfrm>
          <a:prstGeom prst="line">
            <a:avLst/>
          </a:prstGeom>
          <a:noFill/>
          <a:ln w="19050">
            <a:solidFill>
              <a:srgbClr val="8B99B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Primitives-First Design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70% of metrics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 computed from pre-aggregated summary stats (Tier 1). No raw data leaves Snowflake.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30% of metrics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 (AUC, KS, CBPE) use lightweight paired arrays (~16 KB per segment). Production libraries.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8B99B0"/>
                </a:solidFill>
              </a:rPr>
              <a:t>Total data moved per monthly run: ~2 MB across all models.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Portfolio Generalization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framework, different config. Every model with lagged actuals follows the same pattern.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274320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Tiers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F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Zuul (Originations)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30/60/90/120+ DPD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Origination 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net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LTV band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Collections Propensity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count, PTP conversion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Payment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 30+ DPD, missed payments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36–48 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index delta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8229600" cy="640080"/>
          </a:xfrm>
          <a:prstGeom prst="rect">
            <a:avLst/>
          </a:prstGeom>
          <a:solidFill>
            <a:srgbClr val="1A1A3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947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changes: the config file.  What stays the same: monitoring cadence, snapshot schema, grade-level alerting, trend analysis, and the entire dashboard.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11480" cy="320040"/>
          </a:xfrm>
          <a:prstGeom prst="roundRect">
            <a:avLst>
              <a:gd name="adj" fmla="val 14286"/>
            </a:avLst>
          </a:prstGeom>
          <a:solidFill>
            <a:srgbClr val="4F8FF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74980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7498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Tier 1 Primitives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371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PSI/CSI/DQ. Document Primitive schema.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0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4980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920240"/>
            <a:ext cx="54864" cy="749808"/>
          </a:xfrm>
          <a:prstGeom prst="rect">
            <a:avLst/>
          </a:prstGeom>
          <a:solidFill>
            <a:srgbClr val="4F8FF7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1993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Vintage Monitoring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286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paired arrays. AUC/KS via sklearn/scipy. Grade segmentation.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F8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74980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749808"/>
          </a:xfrm>
          <a:prstGeom prst="rect">
            <a:avLst/>
          </a:prstGeom>
          <a:solidFill>
            <a:srgbClr val="8B99B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9077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2907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CBPE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NannyML integration. Validate against mature vintages.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3017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8229600" cy="749808"/>
          </a:xfrm>
          <a:prstGeom prst="rect">
            <a:avLst/>
          </a:prstGeom>
          <a:solidFill>
            <a:srgbClr val="1E2A4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749040"/>
            <a:ext cx="54864" cy="749808"/>
          </a:xfrm>
          <a:prstGeom prst="rect">
            <a:avLst/>
          </a:prstGeom>
          <a:solidFill>
            <a:srgbClr val="8B99B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Onboarding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views. Config-driven onboarding. Zuul as pilot.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Mandos · Lagged Actuals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8F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548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98448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120" y="1280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problem is real: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24 months of blindness on model performance is an unacceptable risk.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012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Platform tools don't solve it: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SageMaker and Snowflake were designed for short-lag ground truth.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78608"/>
            <a:ext cx="274320" cy="2743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2560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Mandos fills the gap: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Cumulative severity tiers, grade-level segmentation, config-driven onboarding.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18688"/>
            <a:ext cx="274320" cy="2743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60120" y="3200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architecture is sound: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Primitives-first, production libraries for non-trivial metrics, ~2 MB per monthly run.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58768"/>
            <a:ext cx="274320" cy="2743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6012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It generalizes: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One framework for every credit risk model with lagged actuals in the portfolio.</a:t>
            </a:r>
            <a:endParaRPr lang="en-US" sz="1400" dirty="0"/>
          </a:p>
        </p:txBody>
      </p:sp>
      <p:sp>
        <p:nvSpPr>
          <p:cNvPr id="15" name="Shape 7"/>
          <p:cNvSpPr/>
          <p:nvPr/>
        </p:nvSpPr>
        <p:spPr>
          <a:xfrm>
            <a:off x="457200" y="4297680"/>
            <a:ext cx="8229600" cy="45720"/>
          </a:xfrm>
          <a:prstGeom prst="rect">
            <a:avLst/>
          </a:prstGeom>
          <a:solidFill>
            <a:srgbClr val="4F8FF7"/>
          </a:solidFill>
          <a:ln/>
        </p:spPr>
      </p:sp>
      <p:sp>
        <p:nvSpPr>
          <p:cNvPr id="16" name="Text 8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F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Mandos: Monitoring Models with Lagged Actuals</dc:title>
  <dc:subject>PptxGenJS Presentation</dc:subject>
  <dc:creator>ML Engineering, Risk Organization</dc:creator>
  <cp:lastModifiedBy>ML Engineering, Risk Organization</cp:lastModifiedBy>
  <cp:revision>1</cp:revision>
  <dcterms:created xsi:type="dcterms:W3CDTF">2026-04-13T18:45:34Z</dcterms:created>
  <dcterms:modified xsi:type="dcterms:W3CDTF">2026-04-13T18:45:34Z</dcterms:modified>
</cp:coreProperties>
</file>